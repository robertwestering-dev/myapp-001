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 sz="180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saveSubsetFonts="1" autoCompressPictures="0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/>
  <p:notesTextViewPr/>
  <p:gridSpacing cx="72008" cy="72008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Hermes Results Master"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72321"/>
          </a:solidFill>
          <a:latin typeface="Avenir Next"/>
        </a:defRPr>
      </a:lvl1pPr>
    </p:titleStyle>
    <p:bodyStyle>
      <a:lvl1pPr marL="0" algn="l">
        <a:defRPr sz="1800">
          <a:solidFill>
            <a:srgbClr val="56655F"/>
          </a:solidFill>
          <a:latin typeface="Avenir Next"/>
        </a:defRPr>
      </a:lvl1pPr>
    </p:bodyStyle>
    <p:otherStyle>
      <a:lvl1pPr marL="0" algn="l">
        <a:defRPr sz="1400">
          <a:solidFill>
            <a:srgbClr val="56655F"/>
          </a:solidFill>
          <a:latin typeface="Avenir Next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hermes-results-logo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hermes-results-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ay Glow"/>
          <p:cNvSpPr/>
          <p:nvPr/>
        </p:nvSpPr>
        <p:spPr>
          <a:xfrm>
            <a:off x="-450000" y="-250000"/>
            <a:ext cx="3100000" cy="2200000"/>
          </a:xfrm>
          <a:prstGeom prst="ellipse">
            <a:avLst/>
          </a:prstGeom>
          <a:solidFill>
            <a:srgbClr val="BC5B2C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rest Glow"/>
          <p:cNvSpPr/>
          <p:nvPr/>
        </p:nvSpPr>
        <p:spPr>
          <a:xfrm>
            <a:off x="9100000" y="-150000"/>
            <a:ext cx="2600000" cy="1800000"/>
          </a:xfrm>
          <a:prstGeom prst="ellipse">
            <a:avLst/>
          </a:prstGeom>
          <a:solidFill>
            <a:srgbClr val="1E473D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Hero Panel"/>
          <p:cNvSpPr/>
          <p:nvPr/>
        </p:nvSpPr>
        <p:spPr>
          <a:xfrm>
            <a:off x="780000" y="960000"/>
            <a:ext cx="10640000" cy="4700000"/>
          </a:xfrm>
          <a:prstGeom prst="roundRect">
            <a:avLst/>
          </a:prstGeom>
          <a:solidFill>
            <a:srgbClr val="FFFFFF">
              <a:alpha val="93000"/>
            </a:srgbClr>
          </a:solidFill>
          <a:ln>
            <a:noFill/>
          </a:ln>
          <a:effectLst>
            <a:outerShdw blurRad="406400" dist="152400" dir="5400000" algn="ctr">
              <a:srgbClr val="10211C">
                <a:alpha val="12000"/>
              </a:srgbClr>
            </a:outerShdw>
          </a:effectLst>
        </p:spPr>
        <p:txBody>
          <a:bodyPr/>
          <a:lstStyle/>
          <a:p/>
        </p:txBody>
      </p:sp>
      <p:pic>
        <p:nvPicPr>
          <p:cNvPr id="4" name="Hermes Result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00" y="1320000"/>
            <a:ext cx="2800000" cy="770000"/>
          </a:xfrm>
          <a:prstGeom prst="rect">
            <a:avLst/>
          </a:prstGeom>
        </p:spPr>
      </p:pic>
      <p:sp>
        <p:nvSpPr>
          <p:cNvPr id="5" name="Eyebrow"/>
          <p:cNvSpPr txBox="1"/>
          <p:nvPr/>
        </p:nvSpPr>
        <p:spPr>
          <a:xfrm>
            <a:off x="1180000" y="2180000"/>
            <a:ext cx="26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BC5B2C"/>
                </a:solidFill>
                <a:latin typeface="Avenir Next"/>
              </a:rPr>
              <a:t>HUMAN, MEASURABLE TRANSFORMATION</a:t>
            </a:r>
            <a:endParaRPr lang="en-US" sz="1200"/>
          </a:p>
        </p:txBody>
      </p:sp>
      <p:sp>
        <p:nvSpPr>
          <p:cNvPr id="6" name="Title"/>
          <p:cNvSpPr txBox="1"/>
          <p:nvPr/>
        </p:nvSpPr>
        <p:spPr>
          <a:xfrm>
            <a:off x="1180000" y="2550000"/>
            <a:ext cx="8200000" cy="95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2600" b="1" i="0" dirty="0">
                <a:solidFill>
                  <a:srgbClr val="172321"/>
                </a:solidFill>
                <a:latin typeface="Avenir Next"/>
              </a:rPr>
              <a:t>PowerPoint Template</a:t>
            </a:r>
            <a:endParaRPr lang="en-US" sz="2600"/>
          </a:p>
          <a:p>
            <a:pPr algn="l" marL="0" indent="0"/>
            <a:buNone/>
            <a:r>
              <a:rPr lang="en-US" sz="2600" b="1" i="0" dirty="0">
                <a:solidFill>
                  <a:srgbClr val="1E473D"/>
                </a:solidFill>
                <a:latin typeface="Avenir Next"/>
              </a:rPr>
              <a:t>for Hermes Results</a:t>
            </a:r>
            <a:endParaRPr lang="en-US" sz="2600"/>
          </a:p>
        </p:txBody>
      </p:sp>
      <p:sp>
        <p:nvSpPr>
          <p:cNvPr id="7" name="Subtitle"/>
          <p:cNvSpPr txBox="1"/>
          <p:nvPr/>
        </p:nvSpPr>
        <p:spPr>
          <a:xfrm>
            <a:off x="1180000" y="3650000"/>
            <a:ext cx="7600000" cy="10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320" b="0" i="0" dirty="0">
                <a:solidFill>
                  <a:srgbClr val="56655F"/>
                </a:solidFill>
                <a:latin typeface="Avenir Next"/>
              </a:rPr>
              <a:t>Warm editorial slides that feel aligned with the website and web application. Use this deck for strategy, quick scans, consultancy, and stakeholder updates.</a:t>
            </a:r>
            <a:endParaRPr lang="en-US" sz="1320"/>
          </a:p>
        </p:txBody>
      </p:sp>
      <p:sp>
        <p:nvSpPr>
          <p:cNvPr id="8" name="CTA Pill"/>
          <p:cNvSpPr/>
          <p:nvPr/>
        </p:nvSpPr>
        <p:spPr>
          <a:xfrm>
            <a:off x="1180000" y="4870000"/>
            <a:ext cx="2700000" cy="520000"/>
          </a:xfrm>
          <a:prstGeom prst="roundRect">
            <a:avLst/>
          </a:prstGeom>
          <a:solidFill>
            <a:srgbClr val="BC5B2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CTA Text"/>
          <p:cNvSpPr txBox="1"/>
          <p:nvPr/>
        </p:nvSpPr>
        <p:spPr>
          <a:xfrm>
            <a:off x="1340000" y="5000000"/>
            <a:ext cx="2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 marL="0" indent="0"/>
            <a:buNone/>
            <a:r>
              <a:rPr lang="en-US" sz="1200" b="1" i="0" dirty="0">
                <a:solidFill>
                  <a:srgbClr val="FFFFFF"/>
                </a:solidFill>
                <a:latin typeface="Avenir Next"/>
              </a:rPr>
              <a:t>Ready to present</a:t>
            </a:r>
            <a:endParaRPr lang="en-US" sz="1200"/>
          </a:p>
        </p:txBody>
      </p:sp>
      <p:sp>
        <p:nvSpPr>
          <p:cNvPr id="10" name="Footer Note"/>
          <p:cNvSpPr txBox="1"/>
          <p:nvPr/>
        </p:nvSpPr>
        <p:spPr>
          <a:xfrm>
            <a:off x="9000000" y="5350000"/>
            <a:ext cx="18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16:9 widescreen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ay Glow"/>
          <p:cNvSpPr/>
          <p:nvPr/>
        </p:nvSpPr>
        <p:spPr>
          <a:xfrm>
            <a:off x="-450000" y="-250000"/>
            <a:ext cx="3100000" cy="2200000"/>
          </a:xfrm>
          <a:prstGeom prst="ellipse">
            <a:avLst/>
          </a:prstGeom>
          <a:solidFill>
            <a:srgbClr val="BC5B2C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rest Glow"/>
          <p:cNvSpPr/>
          <p:nvPr/>
        </p:nvSpPr>
        <p:spPr>
          <a:xfrm>
            <a:off x="9100000" y="-150000"/>
            <a:ext cx="2600000" cy="1800000"/>
          </a:xfrm>
          <a:prstGeom prst="ellipse">
            <a:avLst/>
          </a:prstGeom>
          <a:solidFill>
            <a:srgbClr val="1E473D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620000"/>
            <a:ext cx="4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2400" b="1" i="0" dirty="0">
                <a:solidFill>
                  <a:srgbClr val="172321"/>
                </a:solidFill>
                <a:latin typeface="Avenir Next"/>
              </a:rPr>
              <a:t>Brand System</a:t>
            </a:r>
            <a:endParaRPr lang="en-US" sz="2400"/>
          </a:p>
          <a:p>
            <a:pPr algn="l" marL="0" indent="0"/>
            <a:buNone/>
            <a:r>
              <a:rPr lang="en-US" sz="1200" b="0" i="0" dirty="0">
                <a:solidFill>
                  <a:srgbClr val="56655F"/>
                </a:solidFill>
                <a:latin typeface="Avenir Next"/>
              </a:rPr>
              <a:t>Palette, typography, and visual rhythm</a:t>
            </a:r>
            <a:endParaRPr lang="en-US" sz="1200"/>
          </a:p>
        </p:txBody>
      </p:sp>
      <p:sp>
        <p:nvSpPr>
          <p:cNvPr id="4" name="Left Card"/>
          <p:cNvSpPr/>
          <p:nvPr/>
        </p:nvSpPr>
        <p:spPr>
          <a:xfrm>
            <a:off x="760000" y="1500000"/>
            <a:ext cx="5050000" cy="4300000"/>
          </a:xfrm>
          <a:prstGeom prst="round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ight Card"/>
          <p:cNvSpPr/>
          <p:nvPr/>
        </p:nvSpPr>
        <p:spPr>
          <a:xfrm>
            <a:off x="6080000" y="1500000"/>
            <a:ext cx="5360000" cy="4300000"/>
          </a:xfrm>
          <a:prstGeom prst="round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10" name="Forest Swatch"/>
          <p:cNvSpPr/>
          <p:nvPr/>
        </p:nvSpPr>
        <p:spPr>
          <a:xfrm>
            <a:off x="1100000" y="1900000"/>
            <a:ext cx="700000" cy="360000"/>
          </a:xfrm>
          <a:prstGeom prst="roundRect">
            <a:avLst/>
          </a:prstGeom>
          <a:solidFill>
            <a:srgbClr val="1E473D"/>
          </a:solidFill>
          <a:ln>
            <a:noFill/>
          </a:ln>
        </p:spPr>
        <p:txBody>
          <a:bodyPr/>
          <a:lstStyle/>
          <a:p/>
        </p:txBody>
      </p:sp>
      <p:sp>
        <p:nvSpPr>
          <p:cNvPr id="11" name="Forest Label"/>
          <p:cNvSpPr txBox="1"/>
          <p:nvPr/>
        </p:nvSpPr>
        <p:spPr>
          <a:xfrm>
            <a:off x="1940000" y="188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172321"/>
                </a:solidFill>
                <a:latin typeface="Avenir Next"/>
              </a:rPr>
              <a:t>Forest</a:t>
            </a:r>
            <a:endParaRPr lang="en-US" sz="120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#1E473D</a:t>
            </a:r>
            <a:endParaRPr lang="en-US" sz="1000"/>
          </a:p>
        </p:txBody>
      </p:sp>
      <p:sp>
        <p:nvSpPr>
          <p:cNvPr id="12" name="Clay Swatch"/>
          <p:cNvSpPr/>
          <p:nvPr/>
        </p:nvSpPr>
        <p:spPr>
          <a:xfrm>
            <a:off x="1100000" y="2460000"/>
            <a:ext cx="700000" cy="360000"/>
          </a:xfrm>
          <a:prstGeom prst="roundRect">
            <a:avLst/>
          </a:prstGeom>
          <a:solidFill>
            <a:srgbClr val="BC5B2C"/>
          </a:solidFill>
          <a:ln>
            <a:noFill/>
          </a:ln>
        </p:spPr>
        <p:txBody>
          <a:bodyPr/>
          <a:lstStyle/>
          <a:p/>
        </p:txBody>
      </p:sp>
      <p:sp>
        <p:nvSpPr>
          <p:cNvPr id="13" name="Clay Label"/>
          <p:cNvSpPr txBox="1"/>
          <p:nvPr/>
        </p:nvSpPr>
        <p:spPr>
          <a:xfrm>
            <a:off x="1940000" y="244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172321"/>
                </a:solidFill>
                <a:latin typeface="Avenir Next"/>
              </a:rPr>
              <a:t>Clay</a:t>
            </a:r>
            <a:endParaRPr lang="en-US" sz="120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#BC5B2C</a:t>
            </a:r>
            <a:endParaRPr lang="en-US" sz="1000"/>
          </a:p>
        </p:txBody>
      </p:sp>
      <p:sp>
        <p:nvSpPr>
          <p:cNvPr id="14" name="Gold Swatch"/>
          <p:cNvSpPr/>
          <p:nvPr/>
        </p:nvSpPr>
        <p:spPr>
          <a:xfrm>
            <a:off x="1100000" y="3020000"/>
            <a:ext cx="700000" cy="360000"/>
          </a:xfrm>
          <a:prstGeom prst="roundRect">
            <a:avLst/>
          </a:prstGeom>
          <a:solidFill>
            <a:srgbClr val="D6B37A"/>
          </a:solidFill>
          <a:ln>
            <a:noFill/>
          </a:ln>
        </p:spPr>
        <p:txBody>
          <a:bodyPr/>
          <a:lstStyle/>
          <a:p/>
        </p:txBody>
      </p:sp>
      <p:sp>
        <p:nvSpPr>
          <p:cNvPr id="15" name="Gold Label"/>
          <p:cNvSpPr txBox="1"/>
          <p:nvPr/>
        </p:nvSpPr>
        <p:spPr>
          <a:xfrm>
            <a:off x="1940000" y="300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172321"/>
                </a:solidFill>
                <a:latin typeface="Avenir Next"/>
              </a:rPr>
              <a:t>Gold</a:t>
            </a:r>
            <a:endParaRPr lang="en-US" sz="120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#D6B37A</a:t>
            </a:r>
            <a:endParaRPr lang="en-US" sz="1000"/>
          </a:p>
        </p:txBody>
      </p:sp>
      <p:sp>
        <p:nvSpPr>
          <p:cNvPr id="16" name="Ink Swatch"/>
          <p:cNvSpPr/>
          <p:nvPr/>
        </p:nvSpPr>
        <p:spPr>
          <a:xfrm>
            <a:off x="1100000" y="3580000"/>
            <a:ext cx="700000" cy="360000"/>
          </a:xfrm>
          <a:prstGeom prst="roundRect">
            <a:avLst/>
          </a:prstGeom>
          <a:solidFill>
            <a:srgbClr val="172321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Ink Label"/>
          <p:cNvSpPr txBox="1"/>
          <p:nvPr/>
        </p:nvSpPr>
        <p:spPr>
          <a:xfrm>
            <a:off x="1940000" y="356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172321"/>
                </a:solidFill>
                <a:latin typeface="Avenir Next"/>
              </a:rPr>
              <a:t>Ink</a:t>
            </a:r>
            <a:endParaRPr lang="en-US" sz="120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#172321</a:t>
            </a:r>
            <a:endParaRPr lang="en-US" sz="1000"/>
          </a:p>
        </p:txBody>
      </p:sp>
      <p:sp>
        <p:nvSpPr>
          <p:cNvPr id="18" name="Sand Swatch"/>
          <p:cNvSpPr/>
          <p:nvPr/>
        </p:nvSpPr>
        <p:spPr>
          <a:xfrm>
            <a:off x="1100000" y="4140000"/>
            <a:ext cx="700000" cy="360000"/>
          </a:xfrm>
          <a:prstGeom prst="roundRect">
            <a:avLst/>
          </a:prstGeom>
          <a:solidFill>
            <a:srgbClr val="F4EDE3"/>
          </a:solidFill>
          <a:ln>
            <a:noFill/>
          </a:ln>
        </p:spPr>
        <p:txBody>
          <a:bodyPr/>
          <a:lstStyle/>
          <a:p/>
        </p:txBody>
      </p:sp>
      <p:sp>
        <p:nvSpPr>
          <p:cNvPr id="19" name="Sand Label"/>
          <p:cNvSpPr txBox="1"/>
          <p:nvPr/>
        </p:nvSpPr>
        <p:spPr>
          <a:xfrm>
            <a:off x="1940000" y="412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172321"/>
                </a:solidFill>
                <a:latin typeface="Avenir Next"/>
              </a:rPr>
              <a:t>Sand</a:t>
            </a:r>
            <a:endParaRPr lang="en-US" sz="120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#F4EDE3</a:t>
            </a:r>
            <a:endParaRPr lang="en-US" sz="1000"/>
          </a:p>
        </p:txBody>
      </p:sp>
      <p:sp>
        <p:nvSpPr>
          <p:cNvPr id="20" name="Muted Swatch"/>
          <p:cNvSpPr/>
          <p:nvPr/>
        </p:nvSpPr>
        <p:spPr>
          <a:xfrm>
            <a:off x="1100000" y="4700000"/>
            <a:ext cx="700000" cy="360000"/>
          </a:xfrm>
          <a:prstGeom prst="roundRect">
            <a:avLst/>
          </a:prstGeom>
          <a:solidFill>
            <a:srgbClr val="56655F"/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Muted Label"/>
          <p:cNvSpPr txBox="1"/>
          <p:nvPr/>
        </p:nvSpPr>
        <p:spPr>
          <a:xfrm>
            <a:off x="1940000" y="4680000"/>
            <a:ext cx="24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172321"/>
                </a:solidFill>
                <a:latin typeface="Avenir Next"/>
              </a:rPr>
              <a:t>Muted</a:t>
            </a:r>
            <a:endParaRPr lang="en-US" sz="120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#56655F</a:t>
            </a:r>
            <a:endParaRPr lang="en-US" sz="1000"/>
          </a:p>
        </p:txBody>
      </p:sp>
      <p:sp>
        <p:nvSpPr>
          <p:cNvPr id="30" name="Typography"/>
          <p:cNvSpPr txBox="1"/>
          <p:nvPr/>
        </p:nvSpPr>
        <p:spPr>
          <a:xfrm>
            <a:off x="6420000" y="1880000"/>
            <a:ext cx="4200000" cy="2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600" b="1" i="0" dirty="0">
                <a:solidFill>
                  <a:srgbClr val="172321"/>
                </a:solidFill>
                <a:latin typeface="Avenir Next"/>
              </a:rPr>
              <a:t>Typography</a:t>
            </a:r>
            <a:endParaRPr lang="en-US" sz="1600"/>
          </a:p>
          <a:p>
            <a:pPr algn="l" marL="0" indent="0"/>
            <a:buNone/>
            <a:r>
              <a:rPr lang="en-US" sz="1180" b="1" i="0" dirty="0">
                <a:solidFill>
                  <a:srgbClr val="1E473D"/>
                </a:solidFill>
                <a:latin typeface="Avenir Next"/>
              </a:rPr>
              <a:t>Primary: Avenir Next</a:t>
            </a:r>
            <a:endParaRPr lang="en-US" sz="1180"/>
          </a:p>
          <a:p>
            <a:pPr algn="l" marL="0" indent="0"/>
            <a:buNone/>
            <a:r>
              <a:rPr lang="en-US" sz="1080" b="0" i="0" dirty="0">
                <a:solidFill>
                  <a:srgbClr val="56655F"/>
                </a:solidFill>
                <a:latin typeface="Avenir Next"/>
              </a:rPr>
              <a:t>Use bold, editorial headings with calm spacing and generous margins.</a:t>
            </a:r>
            <a:endParaRPr lang="en-US" sz="1080"/>
          </a:p>
          <a:p>
            <a:pPr algn="l" marL="0" indent="0"/>
            <a:buNone/>
            <a:r>
              <a:rPr lang="en-US" sz="1180" b="1" i="0" dirty="0">
                <a:solidFill>
                  <a:srgbClr val="172321"/>
                </a:solidFill>
                <a:latin typeface="Avenir Next"/>
              </a:rPr>
              <a:t>Body copy: 18-22 pt</a:t>
            </a:r>
            <a:endParaRPr lang="en-US" sz="1180"/>
          </a:p>
          <a:p>
            <a:pPr algn="l" marL="0" indent="0"/>
            <a:buNone/>
            <a:r>
              <a:rPr lang="en-US" sz="1080" b="0" i="0" dirty="0">
                <a:solidFill>
                  <a:srgbClr val="56655F"/>
                </a:solidFill>
                <a:latin typeface="Avenir Next"/>
              </a:rPr>
              <a:t>Short paragraphs, clear contrasts, and more whitespace than a typical corporate deck.</a:t>
            </a:r>
            <a:endParaRPr lang="en-US" sz="1080"/>
          </a:p>
          <a:p>
            <a:pPr algn="l" marL="0" indent="0"/>
            <a:buNone/>
            <a:r>
              <a:rPr lang="en-US" sz="1180" b="1" i="0" dirty="0">
                <a:solidFill>
                  <a:srgbClr val="BC5B2C"/>
                </a:solidFill>
                <a:latin typeface="Avenir Next"/>
              </a:rPr>
              <a:t>Accent style</a:t>
            </a:r>
            <a:endParaRPr lang="en-US" sz="1180"/>
          </a:p>
          <a:p>
            <a:pPr algn="l" marL="0" indent="0"/>
            <a:buNone/>
            <a:r>
              <a:rPr lang="en-US" sz="1080" b="0" i="0" dirty="0">
                <a:solidFill>
                  <a:srgbClr val="56655F"/>
                </a:solidFill>
                <a:latin typeface="Avenir Next"/>
              </a:rPr>
              <a:t>Use clay only for emphasis, buttons, and key actions. Let deep green carry trust and structure.</a:t>
            </a:r>
            <a:endParaRPr lang="en-US" sz="1080"/>
          </a:p>
        </p:txBody>
      </p:sp>
      <p:sp>
        <p:nvSpPr>
          <p:cNvPr id="31" name="Accent Bar"/>
          <p:cNvSpPr/>
          <p:nvPr/>
        </p:nvSpPr>
        <p:spPr>
          <a:xfrm>
            <a:off x="6420000" y="4220000"/>
            <a:ext cx="2600000" cy="120000"/>
          </a:xfrm>
          <a:prstGeom prst="rect">
            <a:avLst/>
          </a:prstGeom>
          <a:solidFill>
            <a:srgbClr val="D6B37A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Guideline"/>
          <p:cNvSpPr txBox="1"/>
          <p:nvPr/>
        </p:nvSpPr>
        <p:spPr>
          <a:xfrm>
            <a:off x="6420000" y="4460000"/>
            <a:ext cx="43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180" b="1" i="0" dirty="0">
                <a:solidFill>
                  <a:srgbClr val="102A23"/>
                </a:solidFill>
                <a:latin typeface="Avenir Next"/>
              </a:rPr>
              <a:t>Slides should feel premium, warm, and measured, not loud or overly technical.</a:t>
            </a:r>
            <a:endParaRPr lang="en-US" sz="118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47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ll Forest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473D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Clay Glow"/>
          <p:cNvSpPr/>
          <p:nvPr/>
        </p:nvSpPr>
        <p:spPr>
          <a:xfrm>
            <a:off x="8600000" y="700000"/>
            <a:ext cx="3300000" cy="2600000"/>
          </a:xfrm>
          <a:prstGeom prst="ellipse">
            <a:avLst/>
          </a:prstGeom>
          <a:solidFill>
            <a:srgbClr val="BC5B2C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Gold Line"/>
          <p:cNvSpPr/>
          <p:nvPr/>
        </p:nvSpPr>
        <p:spPr>
          <a:xfrm>
            <a:off x="960000" y="1580000"/>
            <a:ext cx="1000000" cy="110000"/>
          </a:xfrm>
          <a:prstGeom prst="rect">
            <a:avLst/>
          </a:prstGeom>
          <a:solidFill>
            <a:srgbClr val="D6B37A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Section Label"/>
          <p:cNvSpPr txBox="1"/>
          <p:nvPr/>
        </p:nvSpPr>
        <p:spPr>
          <a:xfrm>
            <a:off x="960000" y="1750000"/>
            <a:ext cx="24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200" b="1" i="0" dirty="0">
                <a:solidFill>
                  <a:srgbClr val="D6B37A"/>
                </a:solidFill>
                <a:latin typeface="Avenir Next"/>
              </a:rPr>
              <a:t>SECTION BREAK</a:t>
            </a:r>
            <a:endParaRPr lang="en-US" sz="1200"/>
          </a:p>
        </p:txBody>
      </p:sp>
      <p:sp>
        <p:nvSpPr>
          <p:cNvPr id="7" name="Section Title"/>
          <p:cNvSpPr txBox="1"/>
          <p:nvPr/>
        </p:nvSpPr>
        <p:spPr>
          <a:xfrm>
            <a:off x="960000" y="2300000"/>
            <a:ext cx="7200000" cy="1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3000" b="1" i="0" dirty="0">
                <a:solidFill>
                  <a:srgbClr val="FFFFFF"/>
                </a:solidFill>
                <a:latin typeface="Avenir Next"/>
              </a:rPr>
              <a:t>From Insight to Action</a:t>
            </a:r>
            <a:endParaRPr lang="en-US" sz="3000"/>
          </a:p>
          <a:p>
            <a:pPr algn="l" marL="0" indent="0"/>
            <a:buNone/>
            <a:r>
              <a:rPr lang="en-US" sz="1320" b="0" i="0" dirty="0">
                <a:solidFill>
                  <a:srgbClr val="E8E0D5"/>
                </a:solidFill>
                <a:latin typeface="Avenir Next"/>
              </a:rPr>
              <a:t>Use this slide for chapter openings, transitions, and executive framing.</a:t>
            </a:r>
            <a:endParaRPr lang="en-US" sz="1320"/>
          </a:p>
        </p:txBody>
      </p:sp>
      <p:sp>
        <p:nvSpPr>
          <p:cNvPr id="8" name="Bottom Note"/>
          <p:cNvSpPr txBox="1"/>
          <p:nvPr/>
        </p:nvSpPr>
        <p:spPr>
          <a:xfrm>
            <a:off x="960000" y="5600000"/>
            <a:ext cx="30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000" b="0" i="0" dirty="0">
                <a:solidFill>
                  <a:srgbClr val="D6B37A"/>
                </a:solidFill>
                <a:latin typeface="Avenir Next"/>
              </a:rPr>
              <a:t>Hermes Results presentation system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ay Glow"/>
          <p:cNvSpPr/>
          <p:nvPr/>
        </p:nvSpPr>
        <p:spPr>
          <a:xfrm>
            <a:off x="-450000" y="-250000"/>
            <a:ext cx="3100000" cy="2200000"/>
          </a:xfrm>
          <a:prstGeom prst="ellipse">
            <a:avLst/>
          </a:prstGeom>
          <a:solidFill>
            <a:srgbClr val="BC5B2C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rest Glow"/>
          <p:cNvSpPr/>
          <p:nvPr/>
        </p:nvSpPr>
        <p:spPr>
          <a:xfrm>
            <a:off x="9100000" y="-150000"/>
            <a:ext cx="2600000" cy="1800000"/>
          </a:xfrm>
          <a:prstGeom prst="ellipse">
            <a:avLst/>
          </a:prstGeom>
          <a:solidFill>
            <a:srgbClr val="1E473D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620000"/>
            <a:ext cx="72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2400" b="1" i="0" dirty="0">
                <a:solidFill>
                  <a:srgbClr val="172321"/>
                </a:solidFill>
                <a:latin typeface="Avenir Next"/>
              </a:rPr>
              <a:t>Working Model</a:t>
            </a:r>
            <a:endParaRPr lang="en-US" sz="2400"/>
          </a:p>
          <a:p>
            <a:pPr algn="l" marL="0" indent="0"/>
            <a:buNone/>
            <a:r>
              <a:rPr lang="en-US" sz="1200" b="0" i="0" dirty="0">
                <a:solidFill>
                  <a:srgbClr val="56655F"/>
                </a:solidFill>
                <a:latin typeface="Avenir Next"/>
              </a:rPr>
              <a:t>A slide for frameworks, approaches, and consultancy structure</a:t>
            </a:r>
            <a:endParaRPr lang="en-US" sz="1200"/>
          </a:p>
        </p:txBody>
      </p:sp>
      <p:sp>
        <p:nvSpPr>
          <p:cNvPr id="4" name="Left Card"/>
          <p:cNvSpPr/>
          <p:nvPr/>
        </p:nvSpPr>
        <p:spPr>
          <a:xfrm>
            <a:off x="760000" y="1540000"/>
            <a:ext cx="5200000" cy="4300000"/>
          </a:xfrm>
          <a:prstGeom prst="roundRect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Right Card"/>
          <p:cNvSpPr/>
          <p:nvPr/>
        </p:nvSpPr>
        <p:spPr>
          <a:xfrm>
            <a:off x="6200000" y="1540000"/>
            <a:ext cx="5230000" cy="4300000"/>
          </a:xfrm>
          <a:prstGeom prst="roundRect">
            <a:avLst/>
          </a:prstGeom>
          <a:solidFill>
            <a:srgbClr val="1E473D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Left Heading"/>
          <p:cNvSpPr txBox="1"/>
          <p:nvPr/>
        </p:nvSpPr>
        <p:spPr>
          <a:xfrm>
            <a:off x="1120000" y="1880000"/>
            <a:ext cx="30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600" b="1" i="0" dirty="0">
                <a:solidFill>
                  <a:srgbClr val="172321"/>
                </a:solidFill>
                <a:latin typeface="Avenir Next"/>
              </a:rPr>
              <a:t>Example structure</a:t>
            </a:r>
            <a:endParaRPr lang="en-US" sz="1600"/>
          </a:p>
        </p:txBody>
      </p:sp>
      <p:sp>
        <p:nvSpPr>
          <p:cNvPr id="7" name="Bullets"/>
          <p:cNvSpPr txBox="1"/>
          <p:nvPr/>
        </p:nvSpPr>
        <p:spPr>
          <a:xfrm>
            <a:off x="1120000" y="2380000"/>
            <a:ext cx="3880000" cy="28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342900" indent="-171450"/>
            <a:buChar char="•"/>
            <a:r>
              <a:rPr lang="en-US" sz="1180" b="0" i="0" dirty="0">
                <a:solidFill>
                  <a:srgbClr val="56655F"/>
                </a:solidFill>
                <a:latin typeface="Avenir Next"/>
              </a:rPr>
              <a:t>Start with a quick scan to establish a baseline.</a:t>
            </a:r>
            <a:endParaRPr lang="en-US" sz="1180"/>
          </a:p>
          <a:p>
            <a:pPr algn="l" marL="342900" indent="-171450"/>
            <a:buChar char="•"/>
            <a:r>
              <a:rPr lang="en-US" sz="1180" b="0" i="0" dirty="0">
                <a:solidFill>
                  <a:srgbClr val="56655F"/>
                </a:solidFill>
                <a:latin typeface="Avenir Next"/>
              </a:rPr>
              <a:t>Translate findings into priorities for leadership and teams.</a:t>
            </a:r>
            <a:endParaRPr lang="en-US" sz="1180"/>
          </a:p>
          <a:p>
            <a:pPr algn="l" marL="342900" indent="-171450"/>
            <a:buChar char="•"/>
            <a:r>
              <a:rPr lang="en-US" sz="1180" b="0" i="0" dirty="0">
                <a:solidFill>
                  <a:srgbClr val="56655F"/>
                </a:solidFill>
                <a:latin typeface="Avenir Next"/>
              </a:rPr>
              <a:t>Connect the results to practical interventions and follow-up.</a:t>
            </a:r>
            <a:endParaRPr lang="en-US" sz="1180"/>
          </a:p>
          <a:p>
            <a:pPr algn="l" marL="342900" indent="-171450"/>
            <a:buChar char="•"/>
            <a:r>
              <a:rPr lang="en-US" sz="1180" b="0" i="0" dirty="0">
                <a:solidFill>
                  <a:srgbClr val="56655F"/>
                </a:solidFill>
                <a:latin typeface="Avenir Next"/>
              </a:rPr>
              <a:t>Keep every slide visually calm and strategically focused.</a:t>
            </a:r>
            <a:endParaRPr lang="en-US" sz="1180"/>
          </a:p>
        </p:txBody>
      </p:sp>
      <p:sp>
        <p:nvSpPr>
          <p:cNvPr id="8" name="Right Heading"/>
          <p:cNvSpPr txBox="1"/>
          <p:nvPr/>
        </p:nvSpPr>
        <p:spPr>
          <a:xfrm>
            <a:off x="6640000" y="1880000"/>
            <a:ext cx="3500000" cy="4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600" b="1" i="0" dirty="0">
                <a:solidFill>
                  <a:srgbClr val="FFFFFF"/>
                </a:solidFill>
                <a:latin typeface="Avenir Next"/>
              </a:rPr>
              <a:t>Design cues</a:t>
            </a:r>
            <a:endParaRPr lang="en-US" sz="1600"/>
          </a:p>
        </p:txBody>
      </p:sp>
      <p:sp>
        <p:nvSpPr>
          <p:cNvPr id="9" name="Right Body"/>
          <p:cNvSpPr txBox="1"/>
          <p:nvPr/>
        </p:nvSpPr>
        <p:spPr>
          <a:xfrm>
            <a:off x="6640000" y="2400000"/>
            <a:ext cx="3720000" cy="2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342900" indent="-171450"/>
            <a:buChar char="•"/>
            <a:r>
              <a:rPr lang="en-US" sz="1180" b="0" i="0" dirty="0">
                <a:solidFill>
                  <a:srgbClr val="F4EDE3"/>
                </a:solidFill>
                <a:latin typeface="Avenir Next"/>
              </a:rPr>
              <a:t>Use white cards on sand backgrounds for content-heavy slides.</a:t>
            </a:r>
            <a:endParaRPr lang="en-US" sz="1180"/>
          </a:p>
          <a:p>
            <a:pPr algn="l" marL="342900" indent="-171450"/>
            <a:buChar char="•"/>
            <a:r>
              <a:rPr lang="en-US" sz="1180" b="0" i="0" dirty="0">
                <a:solidFill>
                  <a:srgbClr val="F4EDE3"/>
                </a:solidFill>
                <a:latin typeface="Avenir Next"/>
              </a:rPr>
              <a:t>Use forest panels for section slides, quotes, and closing moments.</a:t>
            </a:r>
            <a:endParaRPr lang="en-US" sz="1180"/>
          </a:p>
          <a:p>
            <a:pPr algn="l" marL="342900" indent="-171450"/>
            <a:buChar char="•"/>
            <a:r>
              <a:rPr lang="en-US" sz="1180" b="0" i="0" dirty="0">
                <a:solidFill>
                  <a:srgbClr val="F4EDE3"/>
                </a:solidFill>
                <a:latin typeface="Avenir Next"/>
              </a:rPr>
              <a:t>Use clay sparingly as a directional accent, never as the main background.</a:t>
            </a:r>
            <a:endParaRPr lang="en-US" sz="1180"/>
          </a:p>
        </p:txBody>
      </p:sp>
      <p:sp>
        <p:nvSpPr>
          <p:cNvPr id="10" name="Gold Detail"/>
          <p:cNvSpPr/>
          <p:nvPr/>
        </p:nvSpPr>
        <p:spPr>
          <a:xfrm>
            <a:off x="6640000" y="5000000"/>
            <a:ext cx="1800000" cy="120000"/>
          </a:xfrm>
          <a:prstGeom prst="rect">
            <a:avLst/>
          </a:prstGeom>
          <a:solidFill>
            <a:srgbClr val="D6B37A"/>
          </a:solidFill>
          <a:ln>
            <a:noFill/>
          </a:ln>
        </p:spPr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lay Glow"/>
          <p:cNvSpPr/>
          <p:nvPr/>
        </p:nvSpPr>
        <p:spPr>
          <a:xfrm>
            <a:off x="-450000" y="-250000"/>
            <a:ext cx="3100000" cy="2200000"/>
          </a:xfrm>
          <a:prstGeom prst="ellipse">
            <a:avLst/>
          </a:prstGeom>
          <a:solidFill>
            <a:srgbClr val="BC5B2C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21" name="Forest Glow"/>
          <p:cNvSpPr/>
          <p:nvPr/>
        </p:nvSpPr>
        <p:spPr>
          <a:xfrm>
            <a:off x="9100000" y="-150000"/>
            <a:ext cx="2600000" cy="1800000"/>
          </a:xfrm>
          <a:prstGeom prst="ellipse">
            <a:avLst/>
          </a:prstGeom>
          <a:solidFill>
            <a:srgbClr val="1E473D">
              <a:alpha val="14000"/>
            </a:srgbClr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Title"/>
          <p:cNvSpPr txBox="1"/>
          <p:nvPr/>
        </p:nvSpPr>
        <p:spPr>
          <a:xfrm>
            <a:off x="760000" y="620000"/>
            <a:ext cx="7000000" cy="6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2400" b="1" i="0" dirty="0">
                <a:solidFill>
                  <a:srgbClr val="172321"/>
                </a:solidFill>
                <a:latin typeface="Avenir Next"/>
              </a:rPr>
              <a:t>Insight Slide</a:t>
            </a:r>
            <a:endParaRPr lang="en-US" sz="2400"/>
          </a:p>
          <a:p>
            <a:pPr algn="l" marL="0" indent="0"/>
            <a:buNone/>
            <a:r>
              <a:rPr lang="en-US" sz="1200" b="0" i="0" dirty="0">
                <a:solidFill>
                  <a:srgbClr val="56655F"/>
                </a:solidFill>
                <a:latin typeface="Avenir Next"/>
              </a:rPr>
              <a:t>Use for one strong finding, quote, or strategic recommendation</a:t>
            </a:r>
            <a:endParaRPr lang="en-US" sz="1200"/>
          </a:p>
        </p:txBody>
      </p:sp>
      <p:sp>
        <p:nvSpPr>
          <p:cNvPr id="4" name="Quote Card"/>
          <p:cNvSpPr/>
          <p:nvPr/>
        </p:nvSpPr>
        <p:spPr>
          <a:xfrm>
            <a:off x="1180000" y="1760000"/>
            <a:ext cx="9820000" cy="3500000"/>
          </a:xfrm>
          <a:prstGeom prst="roundRect">
            <a:avLst/>
          </a:prstGeom>
          <a:solidFill>
            <a:srgbClr val="FFFFFF">
              <a:alpha val="92000"/>
            </a:srgbClr>
          </a:solidFill>
          <a:ln>
            <a:noFill/>
          </a:ln>
          <a:effectLst>
            <a:outerShdw blurRad="304800" dist="114300" dir="5400000" algn="ctr">
              <a:srgbClr val="10211C">
                <a:alpha val="10000"/>
              </a:srgbClr>
            </a:outerShdw>
          </a:effectLst>
        </p:spPr>
        <p:txBody>
          <a:bodyPr/>
          <a:lstStyle/>
          <a:p/>
        </p:txBody>
      </p:sp>
      <p:sp>
        <p:nvSpPr>
          <p:cNvPr id="5" name="Quote Mark"/>
          <p:cNvSpPr txBox="1"/>
          <p:nvPr/>
        </p:nvSpPr>
        <p:spPr>
          <a:xfrm>
            <a:off x="1580000" y="2160000"/>
            <a:ext cx="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3400" b="1" i="0" dirty="0">
                <a:solidFill>
                  <a:srgbClr val="BC5B2C"/>
                </a:solidFill>
                <a:latin typeface="Avenir Next"/>
              </a:rPr>
              <a:t>“</a:t>
            </a:r>
            <a:endParaRPr lang="en-US" sz="3400"/>
          </a:p>
        </p:txBody>
      </p:sp>
      <p:sp>
        <p:nvSpPr>
          <p:cNvPr id="6" name="Quote"/>
          <p:cNvSpPr txBox="1"/>
          <p:nvPr/>
        </p:nvSpPr>
        <p:spPr>
          <a:xfrm>
            <a:off x="2260000" y="2280000"/>
            <a:ext cx="77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2000" b="1" i="0" dirty="0">
                <a:solidFill>
                  <a:srgbClr val="172321"/>
                </a:solidFill>
                <a:latin typeface="Avenir Next"/>
              </a:rPr>
              <a:t>Change lands better when people first understand what is being asked of them and why it matters.</a:t>
            </a:r>
            <a:endParaRPr lang="en-US" sz="2000"/>
          </a:p>
        </p:txBody>
      </p:sp>
      <p:sp>
        <p:nvSpPr>
          <p:cNvPr id="7" name="Attribution"/>
          <p:cNvSpPr txBox="1"/>
          <p:nvPr/>
        </p:nvSpPr>
        <p:spPr>
          <a:xfrm>
            <a:off x="2260000" y="3920000"/>
            <a:ext cx="42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1180" b="1" i="0" dirty="0">
                <a:solidFill>
                  <a:srgbClr val="1E473D"/>
                </a:solidFill>
                <a:latin typeface="Avenir Next"/>
              </a:rPr>
              <a:t>Example executive takeaway</a:t>
            </a:r>
            <a:endParaRPr lang="en-US" sz="1180"/>
          </a:p>
          <a:p>
            <a:pPr algn="l" marL="0" indent="0"/>
            <a:buNone/>
            <a:r>
              <a:rPr lang="en-US" sz="1000" b="0" i="0" dirty="0">
                <a:solidFill>
                  <a:srgbClr val="56655F"/>
                </a:solidFill>
                <a:latin typeface="Avenir Next"/>
              </a:rPr>
              <a:t>Hermes Results brand template</a:t>
            </a:r>
            <a:endParaRPr lang="en-US" sz="1000"/>
          </a:p>
        </p:txBody>
      </p:sp>
      <p:sp>
        <p:nvSpPr>
          <p:cNvPr id="8" name="Small Accent"/>
          <p:cNvSpPr/>
          <p:nvPr/>
        </p:nvSpPr>
        <p:spPr>
          <a:xfrm>
            <a:off x="9200000" y="4300000"/>
            <a:ext cx="1400000" cy="420000"/>
          </a:xfrm>
          <a:prstGeom prst="roundRect">
            <a:avLst/>
          </a:prstGeom>
          <a:solidFill>
            <a:srgbClr val="BC5B2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Accent Text"/>
          <p:cNvSpPr txBox="1"/>
          <p:nvPr/>
        </p:nvSpPr>
        <p:spPr>
          <a:xfrm>
            <a:off x="9380000" y="4420000"/>
            <a:ext cx="10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c" marL="0" indent="0"/>
            <a:buNone/>
            <a:r>
              <a:rPr lang="en-US" sz="1000" b="1" i="0" dirty="0">
                <a:solidFill>
                  <a:srgbClr val="FFFFFF"/>
                </a:solidFill>
                <a:latin typeface="Avenir Next"/>
              </a:rPr>
              <a:t>Key message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ll 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DE3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Forest Panel"/>
          <p:cNvSpPr/>
          <p:nvPr/>
        </p:nvSpPr>
        <p:spPr>
          <a:xfrm>
            <a:off x="760000" y="820000"/>
            <a:ext cx="10640000" cy="5200000"/>
          </a:xfrm>
          <a:prstGeom prst="roundRect">
            <a:avLst/>
          </a:prstGeom>
          <a:solidFill>
            <a:srgbClr val="1E473D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Clay Glow"/>
          <p:cNvSpPr/>
          <p:nvPr/>
        </p:nvSpPr>
        <p:spPr>
          <a:xfrm>
            <a:off x="9100000" y="800000"/>
            <a:ext cx="2600000" cy="2100000"/>
          </a:xfrm>
          <a:prstGeom prst="ellipse">
            <a:avLst/>
          </a:prstGeom>
          <a:solidFill>
            <a:srgbClr val="BC5B2C">
              <a:alpha val="18000"/>
            </a:srgbClr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Hermes Results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0000" y="1220000"/>
            <a:ext cx="2400000" cy="660000"/>
          </a:xfrm>
          <a:prstGeom prst="rect">
            <a:avLst/>
          </a:prstGeom>
        </p:spPr>
      </p:pic>
      <p:sp>
        <p:nvSpPr>
          <p:cNvPr id="7" name="Closing Title"/>
          <p:cNvSpPr txBox="1"/>
          <p:nvPr/>
        </p:nvSpPr>
        <p:spPr>
          <a:xfrm>
            <a:off x="1180000" y="2460000"/>
            <a:ext cx="6200000" cy="1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 marL="0" indent="0"/>
            <a:buNone/>
            <a:r>
              <a:rPr lang="en-US" sz="3000" b="1" i="0" dirty="0">
                <a:solidFill>
                  <a:srgbClr val="FFFFFF"/>
                </a:solidFill>
                <a:latin typeface="Avenir Next"/>
              </a:rPr>
              <a:t>Thank you</a:t>
            </a:r>
            <a:endParaRPr lang="en-US" sz="3000"/>
          </a:p>
          <a:p>
            <a:pPr algn="l" marL="0" indent="0"/>
            <a:buNone/>
            <a:r>
              <a:rPr lang="en-US" sz="1320" b="0" i="0" dirty="0">
                <a:solidFill>
                  <a:srgbClr val="EDE6DB"/>
                </a:solidFill>
                <a:latin typeface="Avenir Next"/>
              </a:rPr>
              <a:t>Use this closing slide for contact details, next steps, or a concise invitation to continue the conversation.</a:t>
            </a:r>
            <a:endParaRPr lang="en-US" sz="1320"/>
          </a:p>
        </p:txBody>
      </p:sp>
      <p:sp>
        <p:nvSpPr>
          <p:cNvPr id="8" name="Contact Pill"/>
          <p:cNvSpPr/>
          <p:nvPr/>
        </p:nvSpPr>
        <p:spPr>
          <a:xfrm>
            <a:off x="1180000" y="4580000"/>
            <a:ext cx="2500000" cy="520000"/>
          </a:xfrm>
          <a:prstGeom prst="roundRect">
            <a:avLst/>
          </a:prstGeom>
          <a:solidFill>
            <a:srgbClr val="BC5B2C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Contact Text"/>
          <p:cNvSpPr txBox="1"/>
          <p:nvPr/>
        </p:nvSpPr>
        <p:spPr>
          <a:xfrm>
            <a:off x="1360000" y="4700000"/>
            <a:ext cx="21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mid"/>
          <a:lstStyle/>
          <a:p>
            <a:pPr algn="l" marL="0" indent="0"/>
            <a:buNone/>
            <a:r>
              <a:rPr lang="en-US" sz="1080" b="1" i="0" dirty="0">
                <a:solidFill>
                  <a:srgbClr val="FFFFFF"/>
                </a:solidFill>
                <a:latin typeface="Avenir Next"/>
              </a:rPr>
              <a:t>robert@hermesresults.com</a:t>
            </a:r>
            <a:endParaRPr lang="en-US" sz="1080"/>
          </a:p>
        </p:txBody>
      </p:sp>
      <p:sp>
        <p:nvSpPr>
          <p:cNvPr id="10" name="Tagline"/>
          <p:cNvSpPr txBox="1"/>
          <p:nvPr/>
        </p:nvSpPr>
        <p:spPr>
          <a:xfrm>
            <a:off x="8600000" y="5240000"/>
            <a:ext cx="22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 marL="0" indent="0"/>
            <a:buNone/>
            <a:r>
              <a:rPr lang="en-US" sz="1100" b="1" i="0" dirty="0">
                <a:solidFill>
                  <a:srgbClr val="D6B37A"/>
                </a:solidFill>
                <a:latin typeface="Avenir Next"/>
              </a:rPr>
              <a:t>Hermes Results</a:t>
            </a:r>
            <a:endParaRPr lang="en-US" sz="1100"/>
          </a:p>
          <a:p>
            <a:pPr algn="r" marL="0" indent="0"/>
            <a:buNone/>
            <a:r>
              <a:rPr lang="en-US" sz="980" b="0" i="0" dirty="0">
                <a:solidFill>
                  <a:srgbClr val="EDE6DB"/>
                </a:solidFill>
                <a:latin typeface="Avenir Next"/>
              </a:rPr>
              <a:t>human, measurable change</a:t>
            </a:r>
            <a:endParaRPr lang="en-US" sz="9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rmes Results Theme">
  <a:themeElements>
    <a:clrScheme name="Hermes Results">
      <a:dk1>
        <a:srgbClr val="172321"/>
      </a:dk1>
      <a:lt1>
        <a:srgbClr val="FFFFFF"/>
      </a:lt1>
      <a:dk2>
        <a:srgbClr val="102A23"/>
      </a:dk2>
      <a:lt2>
        <a:srgbClr val="F4EDE3"/>
      </a:lt2>
      <a:accent1>
        <a:srgbClr val="1E473D"/>
      </a:accent1>
      <a:accent2>
        <a:srgbClr val="BC5B2C"/>
      </a:accent2>
      <a:accent3>
        <a:srgbClr val="D6B37A"/>
      </a:accent3>
      <a:accent4>
        <a:srgbClr val="56655F"/>
      </a:accent4>
      <a:accent5>
        <a:srgbClr val="EFE5D7"/>
      </a:accent5>
      <a:accent6>
        <a:srgbClr val="8D3F18"/>
      </a:accent6>
      <a:hlink>
        <a:srgbClr val="BC5B2C"/>
      </a:hlink>
      <a:folHlink>
        <a:srgbClr val="1E473D"/>
      </a:folHlink>
    </a:clrScheme>
    <a:fontScheme name="Hermes Results Fonts">
      <a:majorFont>
        <a:latin typeface="Avenir Next"/>
        <a:ea typeface="Avenir Next"/>
        <a:cs typeface="Avenir Next"/>
      </a:majorFont>
      <a:minorFont>
        <a:latin typeface="Avenir Next"/>
        <a:ea typeface="Avenir Next"/>
        <a:cs typeface="Avenir Next"/>
      </a:minorFont>
    </a:fontScheme>
    <a:fmtScheme name="Hermes Results Format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20000"/>
              </a:schemeClr>
            </a:gs>
            <a:gs pos="100000">
              <a:schemeClr val="phClr">
                <a:shade val="25000"/>
                <a:satMod val="12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shade val="100000"/>
                <a:satMod val="30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</a:ln>
        <a:ln w="2540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38100" dir="5400000" algn="ctr">
              <a:srgbClr val="000000">
                <a:alpha val="18000"/>
              </a:srgbClr>
            </a:outerShdw>
          </a:effectLst>
        </a:effectStyle>
      </a:effectStyleLst>
      <a:bgFillStyleLst>
        <a:solidFill>
          <a:srgbClr val="F4EDE3"/>
        </a:solidFill>
        <a:solidFill>
          <a:srgbClr val="FFFFFF"/>
        </a:solidFill>
        <a:gradFill rotWithShape="1">
          <a:gsLst>
            <a:gs pos="0">
              <a:srgbClr val="F4EDE3"/>
            </a:gs>
            <a:gs pos="100000">
              <a:srgbClr val="EFE5D7"/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Hermes Results Theme</vt:lpstr>
    </vt:vector>
  </TitlesOfParts>
  <Company>Hermes Results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Hermes Results PowerPoint Template</dc:title>
  <dc:subject>Hermes Results branding deck</dc:subject>
  <dc:creator>OpenAI Codex</dc:creator>
  <cp:keywords>Hermes Results; PowerPoint; Template; Branding</cp:keywords>
  <dc:description>Modern presentation template aligned with the Hermes Results website palette and tone.</dc:description>
  <cp:lastModifiedBy>OpenAI Codex</cp:lastModifiedBy>
  <dcterms:created xsi:type="dcterms:W3CDTF">2026-03-30T07:39:35Z</dcterms:created>
  <dcterms:modified xsi:type="dcterms:W3CDTF">2026-03-30T07:39:35Z</dcterms:modified>
</cp:coreProperties>
</file>